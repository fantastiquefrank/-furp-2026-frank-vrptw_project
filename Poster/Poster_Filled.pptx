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2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3" Type="http://schemas.openxmlformats.org/officeDocument/2006/relationships/image" Target="../media/figur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/>
          <p:nvPr/>
        </p:nvSpPr>
        <p:spPr>
          <a:xfrm>
            <a:off x="-1" y="-28098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E90183-F57D-40AB-B9A0-CD958B03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" y="5555"/>
            <a:ext cx="3308880" cy="122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7258" y="252527"/>
            <a:ext cx="6765924" cy="72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Department of XYZ </a:t>
            </a:r>
            <a:r>
              <a:rPr lang="en-US" altLang="zh-CN" sz="4000" b="1" dirty="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(</a:t>
            </a: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Full Name)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6083300" y="29324947"/>
            <a:ext cx="152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San Zhang (20333333):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For team submissions, provide details of every team member.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Supervisor: 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If there is no supervisor, please delete this line.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00" name="Title Band"/>
          <p:cNvSpPr txBox="1"/>
          <p:nvPr/>
        </p:nvSpPr>
        <p:spPr>
          <a:xfrm>
            <a:off x="3900000" y="50000"/>
            <a:ext cx="13000000" cy="16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ctr"/>
            <a:r>
              <a:rPr lang="en-US" sz="4400" b="1" i="0">
                <a:solidFill>
                  <a:srgbClr val="FFFFFF"/>
                </a:solidFill>
                <a:latin typeface="Calibri" pitchFamily="34" charset="0"/>
              </a:rPr>
              <a:t>Vehicle Routing Optimization</a:t>
            </a:r>
          </a:p>
          <a:p>
            <a:pPr marL="274320" indent="-274320" algn="ctr"/>
            <a:r>
              <a:rPr lang="en-US" sz="2400" b="0" i="0">
                <a:solidFill>
                  <a:srgbClr val="FFFFFF"/>
                </a:solidFill>
                <a:latin typeface="Calibri" pitchFamily="34" charset="0"/>
              </a:rPr>
              <a:t>From Heuristics to Deep Reinforcement Learning</a:t>
            </a:r>
          </a:p>
          <a:p>
            <a:pPr marL="274320" indent="-274320" algn="ctr"/>
            <a:r>
              <a:rPr lang="en-US" sz="1700" b="0" i="0">
                <a:solidFill>
                  <a:srgbClr val="FFFFFF"/>
                </a:solidFill>
                <a:latin typeface="Calibri" pitchFamily="34" charset="0"/>
              </a:rPr>
              <a:t>A Comparative Study on CVRP, VRPTW and EVRP-TW</a:t>
            </a:r>
          </a:p>
        </p:txBody>
      </p:sp>
      <p:sp>
        <p:nvSpPr>
          <p:cNvPr id="2001" name="Heading 2001"/>
          <p:cNvSpPr txBox="1"/>
          <p:nvPr/>
        </p:nvSpPr>
        <p:spPr>
          <a:xfrm>
            <a:off x="500000" y="2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3000" b="1" i="0">
                <a:solidFill>
                  <a:srgbClr val="10263B"/>
                </a:solidFill>
                <a:latin typeface="Calibri" pitchFamily="34" charset="0"/>
              </a:rPr>
              <a:t>Background</a:t>
            </a:r>
          </a:p>
        </p:txBody>
      </p:sp>
      <p:sp>
        <p:nvSpPr>
          <p:cNvPr id="2002" name="Background Bullets"/>
          <p:cNvSpPr txBox="1"/>
          <p:nvPr/>
        </p:nvSpPr>
        <p:spPr>
          <a:xfrm>
            <a:off x="500000" y="3350000"/>
            <a:ext cx="9800000" cy="4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Vehicle routing: serve customers from a depot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CVRP: limited vehicle load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VRPTW: customer time windows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EVRP-TW: battery and charging stations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Goal: minimum total travel distance</a:t>
            </a:r>
          </a:p>
        </p:txBody>
      </p:sp>
      <p:sp>
        <p:nvSpPr>
          <p:cNvPr id="2003" name="Heading 2003"/>
          <p:cNvSpPr txBox="1"/>
          <p:nvPr/>
        </p:nvSpPr>
        <p:spPr>
          <a:xfrm>
            <a:off x="10700000" y="2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3000" b="1" i="0">
                <a:solidFill>
                  <a:srgbClr val="10263B"/>
                </a:solidFill>
                <a:latin typeface="Calibri" pitchFamily="34" charset="0"/>
              </a:rPr>
              <a:t>Methods</a:t>
            </a:r>
          </a:p>
        </p:txBody>
      </p:sp>
      <p:sp>
        <p:nvSpPr>
          <p:cNvPr id="2004" name="Method Bullets"/>
          <p:cNvSpPr txBox="1"/>
          <p:nvPr/>
        </p:nvSpPr>
        <p:spPr>
          <a:xfrm>
            <a:off x="10700000" y="3350000"/>
            <a:ext cx="98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OR-Tools: route model with dimensions</a:t>
            </a:r>
          </a:p>
          <a:p>
            <a:pPr marL="274320" indent="-274320" algn="l">
              <a:buFont typeface="Arial"/>
              <a:buChar char="•"/>
            </a:pPr>
            <a:r>
              <a:rPr lang="en-US" sz="1600" b="0" i="0">
                <a:solidFill>
                  <a:srgbClr val="777777"/>
                </a:solidFill>
                <a:latin typeface="Calibri" pitchFamily="34" charset="0"/>
              </a:rPr>
              <a:t>load / time / energy limits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PyVRP: population-based search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POMO: multiple starts, shared baseline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RL4CO: PyTorch + Lightning framework</a:t>
            </a:r>
          </a:p>
        </p:txBody>
      </p:sp>
      <p:sp>
        <p:nvSpPr>
          <p:cNvPr id="2005" name="Heading 2005"/>
          <p:cNvSpPr txBox="1"/>
          <p:nvPr/>
        </p:nvSpPr>
        <p:spPr>
          <a:xfrm>
            <a:off x="500000" y="108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Experiment 1: CVRP Comparison</a:t>
            </a:r>
          </a:p>
        </p:txBody>
      </p:sp>
      <p:graphicFrame>
        <p:nvGraphicFramePr>
          <p:cNvPr id="2006" name="CVRP Table"/>
          <p:cNvGraphicFramePr/>
          <p:nvPr/>
        </p:nvGraphicFramePr>
        <p:xfrm>
          <a:off x="500000" y="11700000"/>
          <a:ext cx="9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2800000"/>
                <a:gridCol w="2400000"/>
                <a:gridCol w="2000000"/>
              </a:tblGrid>
              <a:tr h="360000">
                <a:tc>
                  <a:txBody>
                    <a:bodyPr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Instance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Solver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Objective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Gap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0000"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A-n32-k5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PyVRP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784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0000"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A-n32-k5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OR-Tools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784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0000"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A-n55-k9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PyVRP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1073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0000"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A-n55-k9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OR-Tools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1110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3.45%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07" name="CVRP Caption"/>
          <p:cNvSpPr txBox="1"/>
          <p:nvPr/>
        </p:nvSpPr>
        <p:spPr>
          <a:xfrm>
            <a:off x="500000" y="13600000"/>
            <a:ext cx="9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1500" b="0" i="1">
                <a:solidFill>
                  <a:srgbClr val="777777"/>
                </a:solidFill>
                <a:latin typeface="Calibri" pitchFamily="34" charset="0"/>
              </a:rPr>
              <a:t>Known optima: 784 / 1073. PyVRP reaches both; OR-Tools gap on the medium instance.</a:t>
            </a:r>
          </a:p>
        </p:txBody>
      </p:sp>
      <p:sp>
        <p:nvSpPr>
          <p:cNvPr id="2008" name="Heading 2008"/>
          <p:cNvSpPr txBox="1"/>
          <p:nvPr/>
        </p:nvSpPr>
        <p:spPr>
          <a:xfrm>
            <a:off x="500000" y="14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Experiment 2: Battery Sensitivity</a:t>
            </a:r>
          </a:p>
        </p:txBody>
      </p:sp>
      <p:graphicFrame>
        <p:nvGraphicFramePr>
          <p:cNvPr id="2009" name="Battery Table"/>
          <p:cNvGraphicFramePr/>
          <p:nvPr/>
        </p:nvGraphicFramePr>
        <p:xfrm>
          <a:off x="500000" y="15300000"/>
          <a:ext cx="980000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2200000"/>
                <a:gridCol w="1800000"/>
                <a:gridCol w="2000000"/>
                <a:gridCol w="1700000"/>
              </a:tblGrid>
              <a:tr h="320000">
                <a:tc>
                  <a:txBody>
                    <a:bodyPr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Instance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Battery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Feasible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Objective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Stations</a:t>
                      </a:r>
                    </a:p>
                  </a:txBody>
                  <a:tcPr marL="45720" marR="45720" marT="18288" marB="18288">
                    <a:solidFill>
                      <a:srgbClr val="10263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C20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no limit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12939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697 (critical)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12939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C20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696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no limit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30142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C60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921 (critical)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30520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00"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C60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920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500" b="0" i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10" name="Battery Caption"/>
          <p:cNvSpPr txBox="1"/>
          <p:nvPr/>
        </p:nvSpPr>
        <p:spPr>
          <a:xfrm>
            <a:off x="500000" y="177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1500" b="0" i="1">
                <a:solidFill>
                  <a:srgbClr val="777777"/>
                </a:solidFill>
                <a:latin typeface="Calibri" pitchFamily="34" charset="0"/>
              </a:rPr>
              <a:t>Critical capacity: 697 (C20), 921 (C60). Objective +1.25% at C60. Stations also serve as time adjustment points.</a:t>
            </a:r>
          </a:p>
        </p:txBody>
      </p:sp>
      <p:sp>
        <p:nvSpPr>
          <p:cNvPr id="2011" name="Heading 2011"/>
          <p:cNvSpPr txBox="1"/>
          <p:nvPr/>
        </p:nvSpPr>
        <p:spPr>
          <a:xfrm>
            <a:off x="10700000" y="108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Route at Critical Battery</a:t>
            </a:r>
          </a:p>
        </p:txBody>
      </p:sp>
      <p:pic>
        <p:nvPicPr>
          <p:cNvPr id="2012" name="Fig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00" y="11700000"/>
            <a:ext cx="9200000" cy="5187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Figure Caption"/>
          <p:cNvSpPr txBox="1"/>
          <p:nvPr/>
        </p:nvSpPr>
        <p:spPr>
          <a:xfrm>
            <a:off x="10700000" y="16987807"/>
            <a:ext cx="9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1500" b="0" i="1">
                <a:solidFill>
                  <a:srgbClr val="777777"/>
                </a:solidFill>
                <a:latin typeface="Calibri" pitchFamily="34" charset="0"/>
              </a:rPr>
              <a:t>Figure: C60 route at critical battery (921 kWh), including two charging station visits.</a:t>
            </a:r>
          </a:p>
        </p:txBody>
      </p:sp>
      <p:sp>
        <p:nvSpPr>
          <p:cNvPr id="2014" name="Heading 2014"/>
          <p:cNvSpPr txBox="1"/>
          <p:nvPr/>
        </p:nvSpPr>
        <p:spPr>
          <a:xfrm>
            <a:off x="10700000" y="178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Research Line</a:t>
            </a:r>
          </a:p>
        </p:txBody>
      </p:sp>
      <p:sp>
        <p:nvSpPr>
          <p:cNvPr id="2015" name="Research Line Bullets"/>
          <p:cNvSpPr txBox="1"/>
          <p:nvPr/>
        </p:nvSpPr>
        <p:spPr>
          <a:xfrm>
            <a:off x="10700000" y="18700000"/>
            <a:ext cx="980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Traditional solvers: OR-Tools, PyVRP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Learning-based method: POMO + RL4CO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Datasets: Augerat CVRP, ESOGU EVRP-TW</a:t>
            </a:r>
          </a:p>
        </p:txBody>
      </p:sp>
      <p:sp>
        <p:nvSpPr>
          <p:cNvPr id="2016" name="Heading 2016"/>
          <p:cNvSpPr txBox="1"/>
          <p:nvPr/>
        </p:nvSpPr>
        <p:spPr>
          <a:xfrm>
            <a:off x="500000" y="20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POMO + RL4CO</a:t>
            </a:r>
          </a:p>
        </p:txBody>
      </p:sp>
      <p:sp>
        <p:nvSpPr>
          <p:cNvPr id="2017" name="POMO Bullets"/>
          <p:cNvSpPr txBox="1"/>
          <p:nvPr/>
        </p:nvSpPr>
        <p:spPr>
          <a:xfrm>
            <a:off x="500000" y="21350000"/>
            <a:ext cx="98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Custom environment: src/POMO_Test_2.py</a:t>
            </a:r>
          </a:p>
          <a:p>
            <a:pPr marL="274320" indent="-274320" algn="l">
              <a:buFont typeface="Arial"/>
              <a:buChar char="•"/>
            </a:pPr>
            <a:r>
              <a:rPr lang="en-US" sz="1600" b="0" i="0">
                <a:solidFill>
                  <a:srgbClr val="777777"/>
                </a:solidFill>
                <a:latin typeface="Calibri" pitchFamily="34" charset="0"/>
              </a:rPr>
              <a:t>generator: random instances</a:t>
            </a:r>
          </a:p>
          <a:p>
            <a:pPr marL="274320" indent="-274320" algn="l">
              <a:buFont typeface="Arial"/>
              <a:buChar char="•"/>
            </a:pPr>
            <a:r>
              <a:rPr lang="en-US" sz="1600" b="0" i="0">
                <a:solidFill>
                  <a:srgbClr val="777777"/>
                </a:solidFill>
                <a:latin typeface="Calibri" pitchFamily="34" charset="0"/>
              </a:rPr>
              <a:t>env: reset / step / reward</a:t>
            </a:r>
          </a:p>
          <a:p>
            <a:pPr marL="274320" indent="-274320" algn="l">
              <a:buFont typeface="Arial"/>
              <a:buChar char="•"/>
            </a:pPr>
            <a:r>
              <a:rPr lang="en-US" sz="1600" b="0" i="0">
                <a:solidFill>
                  <a:srgbClr val="777777"/>
                </a:solidFill>
                <a:latin typeface="Calibri" pitchFamily="34" charset="0"/>
              </a:rPr>
              <a:t>mask: hard constraints</a:t>
            </a:r>
          </a:p>
          <a:p>
            <a:pPr marL="274320" indent="-274320" algn="l">
              <a:buFont typeface="Arial"/>
              <a:buChar char="•"/>
            </a:pPr>
            <a:r>
              <a:rPr lang="en-US" sz="1600" b="0" i="0">
                <a:solidFill>
                  <a:srgbClr val="777777"/>
                </a:solidFill>
                <a:latin typeface="Calibri" pitchFamily="34" charset="0"/>
              </a:rPr>
              <a:t>multi-start node selection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Solution check included</a:t>
            </a:r>
          </a:p>
        </p:txBody>
      </p:sp>
      <p:sp>
        <p:nvSpPr>
          <p:cNvPr id="2018" name="Heading 2018"/>
          <p:cNvSpPr txBox="1"/>
          <p:nvPr/>
        </p:nvSpPr>
        <p:spPr>
          <a:xfrm>
            <a:off x="500000" y="250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Baseline Test: TSP20</a:t>
            </a:r>
          </a:p>
        </p:txBody>
      </p:sp>
      <p:sp>
        <p:nvSpPr>
          <p:cNvPr id="2019" name="TSP20 Bullets"/>
          <p:cNvSpPr txBox="1"/>
          <p:nvPr/>
        </p:nvSpPr>
        <p:spPr>
          <a:xfrm>
            <a:off x="500000" y="25950000"/>
            <a:ext cx="98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GPU available: True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Training reward: -4.017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Validation reward: -3.952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Model parameters: 1.3 M</a:t>
            </a:r>
          </a:p>
        </p:txBody>
      </p:sp>
      <p:sp>
        <p:nvSpPr>
          <p:cNvPr id="2020" name="Heading 2020"/>
          <p:cNvSpPr txBox="1"/>
          <p:nvPr/>
        </p:nvSpPr>
        <p:spPr>
          <a:xfrm>
            <a:off x="10700000" y="20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Current Status</a:t>
            </a:r>
          </a:p>
        </p:txBody>
      </p:sp>
      <p:sp>
        <p:nvSpPr>
          <p:cNvPr id="2021" name="Status Bullets"/>
          <p:cNvSpPr txBox="1"/>
          <p:nvPr/>
        </p:nvSpPr>
        <p:spPr>
          <a:xfrm>
            <a:off x="10700000" y="21350000"/>
            <a:ext cx="98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Environment ready, basic functions tested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POMO training on EVRP-TW: next step</a:t>
            </a:r>
          </a:p>
        </p:txBody>
      </p:sp>
      <p:sp>
        <p:nvSpPr>
          <p:cNvPr id="2022" name="Heading 2022"/>
          <p:cNvSpPr txBox="1"/>
          <p:nvPr/>
        </p:nvSpPr>
        <p:spPr>
          <a:xfrm>
            <a:off x="10700000" y="23400000"/>
            <a:ext cx="9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/>
            <a:r>
              <a:rPr lang="en-US" sz="2600" b="1" i="0">
                <a:solidFill>
                  <a:srgbClr val="10263B"/>
                </a:solidFill>
                <a:latin typeface="Calibri" pitchFamily="34" charset="0"/>
              </a:rPr>
              <a:t>Future Work</a:t>
            </a:r>
          </a:p>
        </p:txBody>
      </p:sp>
      <p:sp>
        <p:nvSpPr>
          <p:cNvPr id="2023" name="Future Bullets"/>
          <p:cNvSpPr txBox="1"/>
          <p:nvPr/>
        </p:nvSpPr>
        <p:spPr>
          <a:xfrm>
            <a:off x="10700000" y="24350000"/>
            <a:ext cx="9800000" cy="2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Train POMO on EVRP-TW instances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Compare with OR-Tools baseline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Real charging behavior at stations</a:t>
            </a:r>
          </a:p>
          <a:p>
            <a:pPr marL="274320" indent="-274320" algn="l">
              <a:buFont typeface="Arial"/>
              <a:buChar char="•"/>
            </a:pPr>
            <a:r>
              <a:rPr lang="en-US" sz="2000" b="0" i="0">
                <a:solidFill>
                  <a:srgbClr val="333333"/>
                </a:solidFill>
                <a:latin typeface="Calibri" pitchFamily="34" charset="0"/>
              </a:rPr>
              <a:t>Use ESOGU real data</a:t>
            </a:r>
          </a:p>
        </p:txBody>
      </p:sp>
      <p:sp>
        <p:nvSpPr>
          <p:cNvPr id="2024" name="Conclusion"/>
          <p:cNvSpPr txBox="1"/>
          <p:nvPr/>
        </p:nvSpPr>
        <p:spPr>
          <a:xfrm>
            <a:off x="500000" y="28400000"/>
            <a:ext cx="20396325" cy="7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/>
          <a:lstStyle/>
          <a:p>
            <a:pPr marL="274320" indent="-274320" algn="ctr"/>
            <a:r>
              <a:rPr lang="en-US" sz="1900" b="1" i="0">
                <a:solidFill>
                  <a:srgbClr val="10263B"/>
                </a:solidFill>
                <a:latin typeface="Calibri" pitchFamily="34" charset="0"/>
              </a:rPr>
              <a:t>Conclusion: PyVRP strong on classical CVRP; OR-Tools flexible for EVRP-TW; learning-based environment ready for the next stage.</a:t>
            </a: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7" ma:contentTypeDescription="Create a new document." ma:contentTypeScope="" ma:versionID="6ee5fad9225ee4861531c1ddf5c72bfa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0d90d1f6051f37191be1cc0d6b224652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FBA1C3-1007-45B2-9991-64F001C1E8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BBC5C6-C79F-42CC-B03E-1C7D98C7F351}">
  <ds:schemaRefs>
    <ds:schemaRef ds:uri="http://schemas.openxmlformats.org/package/2006/metadata/core-properties"/>
    <ds:schemaRef ds:uri="http://www.w3.org/XML/1998/namespace"/>
    <ds:schemaRef ds:uri="http://purl.org/dc/elements/1.1/"/>
    <ds:schemaRef ds:uri="5ba57bcb-f582-4dfe-b097-ca0487efe0a8"/>
    <ds:schemaRef ds:uri="http://purl.org/dc/dcmitype/"/>
    <ds:schemaRef ds:uri="http://schemas.microsoft.com/office/infopath/2007/PartnerControls"/>
    <ds:schemaRef ds:uri="http://schemas.microsoft.com/office/2006/documentManagement/types"/>
    <ds:schemaRef ds:uri="8f359d49-0ea8-407e-9873-8f4dcb0a2f6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 Zhang</dc:creator>
  <cp:lastModifiedBy>Iris Li</cp:lastModifiedBy>
  <cp:revision>8</cp:revision>
  <dcterms:created xsi:type="dcterms:W3CDTF">2022-05-10T01:47:32Z</dcterms:created>
  <dcterms:modified xsi:type="dcterms:W3CDTF">2026-08-05T03:16:13Z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